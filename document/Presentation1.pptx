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handoutMasterIdLst>
    <p:handoutMasterId r:id="rId21"/>
  </p:handoutMasterIdLst>
  <p:sldIdLst>
    <p:sldId id="269" r:id="rId2"/>
    <p:sldId id="270" r:id="rId3"/>
    <p:sldId id="271" r:id="rId4"/>
    <p:sldId id="272" r:id="rId5"/>
    <p:sldId id="273" r:id="rId6"/>
    <p:sldId id="263" r:id="rId7"/>
    <p:sldId id="274" r:id="rId8"/>
    <p:sldId id="275" r:id="rId9"/>
    <p:sldId id="279" r:id="rId10"/>
    <p:sldId id="282" r:id="rId11"/>
    <p:sldId id="283" r:id="rId12"/>
    <p:sldId id="284" r:id="rId13"/>
    <p:sldId id="285" r:id="rId14"/>
    <p:sldId id="286" r:id="rId15"/>
    <p:sldId id="276" r:id="rId16"/>
    <p:sldId id="281" r:id="rId17"/>
    <p:sldId id="277" r:id="rId18"/>
    <p:sldId id="278" r:id="rId19"/>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5" d="100"/>
          <a:sy n="85" d="100"/>
        </p:scale>
        <p:origin x="590" y="48"/>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1/17/2024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1/17/2024</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A181B6-B371-4031-9CBE-ED0985B01CB6}" type="slidenum">
              <a:rPr lang="en-US"/>
              <a:pPr/>
              <a:t>6</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t>Add key points in the history of your country to the timeline.</a:t>
            </a:r>
          </a:p>
        </p:txBody>
      </p:sp>
    </p:spTree>
    <p:extLst>
      <p:ext uri="{BB962C8B-B14F-4D97-AF65-F5344CB8AC3E}">
        <p14:creationId xmlns:p14="http://schemas.microsoft.com/office/powerpoint/2010/main" val="2229052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custom or tradition here.</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7</a:t>
            </a:fld>
            <a:endParaRPr lang="en-US"/>
          </a:p>
        </p:txBody>
      </p:sp>
    </p:spTree>
    <p:extLst>
      <p:ext uri="{BB962C8B-B14F-4D97-AF65-F5344CB8AC3E}">
        <p14:creationId xmlns:p14="http://schemas.microsoft.com/office/powerpoint/2010/main" val="2063820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the head leader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8</a:t>
            </a:fld>
            <a:endParaRPr lang="en-US"/>
          </a:p>
        </p:txBody>
      </p:sp>
    </p:spTree>
    <p:extLst>
      <p:ext uri="{BB962C8B-B14F-4D97-AF65-F5344CB8AC3E}">
        <p14:creationId xmlns:p14="http://schemas.microsoft.com/office/powerpoint/2010/main" val="3204451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15</a:t>
            </a:fld>
            <a:endParaRPr lang="en-US"/>
          </a:p>
        </p:txBody>
      </p:sp>
    </p:spTree>
    <p:extLst>
      <p:ext uri="{BB962C8B-B14F-4D97-AF65-F5344CB8AC3E}">
        <p14:creationId xmlns:p14="http://schemas.microsoft.com/office/powerpoint/2010/main" val="1681772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one of the points of interest for your country.</a:t>
            </a:r>
          </a:p>
        </p:txBody>
      </p:sp>
      <p:sp>
        <p:nvSpPr>
          <p:cNvPr id="4" name="Slide Number Placeholder 3"/>
          <p:cNvSpPr>
            <a:spLocks noGrp="1"/>
          </p:cNvSpPr>
          <p:nvPr>
            <p:ph type="sldNum" sz="quarter" idx="10"/>
          </p:nvPr>
        </p:nvSpPr>
        <p:spPr/>
        <p:txBody>
          <a:bodyPr/>
          <a:lstStyle/>
          <a:p>
            <a:fld id="{69C971FF-EF28-4195-A575-329446EFAA55}" type="slidenum">
              <a:rPr lang="en-US" smtClean="0"/>
              <a:t>17</a:t>
            </a:fld>
            <a:endParaRPr lang="en-US"/>
          </a:p>
        </p:txBody>
      </p:sp>
    </p:spTree>
    <p:extLst>
      <p:ext uri="{BB962C8B-B14F-4D97-AF65-F5344CB8AC3E}">
        <p14:creationId xmlns:p14="http://schemas.microsoft.com/office/powerpoint/2010/main" val="3969760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1/17/2024</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1/17/2024</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1/17/2024</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1/17/2024</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1/17/2024</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1/17/2024</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1/17/2024</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1/17/2024</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1/17/2024</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1/17/2024</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1/17/2024</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1/17/2024</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nomadicpolitics.blogspot.com/2016/01/how-americas-obsolete-voting-machine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freepngimg.com/png/87481-of-thanks-letter-text-logo-calligraphy-drawing" TargetMode="External"/><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1C32A2-EF4D-E72A-A42E-6086BA276D30}"/>
              </a:ext>
            </a:extLst>
          </p:cNvPr>
          <p:cNvSpPr txBox="1"/>
          <p:nvPr/>
        </p:nvSpPr>
        <p:spPr>
          <a:xfrm>
            <a:off x="0" y="276892"/>
            <a:ext cx="12188825" cy="6629507"/>
          </a:xfrm>
          <a:prstGeom prst="rect">
            <a:avLst/>
          </a:prstGeom>
          <a:noFill/>
          <a:ln>
            <a:solidFill>
              <a:schemeClr val="bg2"/>
            </a:solidFill>
          </a:ln>
        </p:spPr>
        <p:txBody>
          <a:bodyPr wrap="square" rtlCol="0">
            <a:spAutoFit/>
          </a:bodyPr>
          <a:lstStyle/>
          <a:p>
            <a:pPr algn="ctr">
              <a:lnSpc>
                <a:spcPct val="90000"/>
              </a:lnSpc>
            </a:pPr>
            <a:endParaRPr lang="en-US" sz="1600" b="1" dirty="0"/>
          </a:p>
          <a:p>
            <a:pPr algn="ctr">
              <a:lnSpc>
                <a:spcPct val="90000"/>
              </a:lnSpc>
            </a:pPr>
            <a:r>
              <a:rPr lang="en-US" sz="1600" b="1" dirty="0"/>
              <a:t>Project ID: 2022-24MCAPID007</a:t>
            </a:r>
          </a:p>
          <a:p>
            <a:pPr algn="ctr">
              <a:lnSpc>
                <a:spcPct val="90000"/>
              </a:lnSpc>
            </a:pPr>
            <a:endParaRPr lang="en-US" sz="1600" dirty="0"/>
          </a:p>
          <a:p>
            <a:pPr algn="ctr">
              <a:lnSpc>
                <a:spcPct val="90000"/>
              </a:lnSpc>
            </a:pPr>
            <a:r>
              <a:rPr lang="en-US" sz="2000" b="1" dirty="0"/>
              <a:t>Development of E-Bharat :</a:t>
            </a:r>
          </a:p>
          <a:p>
            <a:pPr algn="ctr">
              <a:lnSpc>
                <a:spcPct val="90000"/>
              </a:lnSpc>
            </a:pPr>
            <a:r>
              <a:rPr lang="en-US" sz="2000" b="1" dirty="0"/>
              <a:t>Essential Voting System</a:t>
            </a:r>
          </a:p>
          <a:p>
            <a:pPr algn="ctr">
              <a:lnSpc>
                <a:spcPct val="90000"/>
              </a:lnSpc>
            </a:pPr>
            <a:endParaRPr lang="en-US" sz="1600" dirty="0"/>
          </a:p>
          <a:p>
            <a:pPr algn="ctr">
              <a:lnSpc>
                <a:spcPct val="90000"/>
              </a:lnSpc>
            </a:pPr>
            <a:r>
              <a:rPr lang="en-US" sz="1600" b="1" dirty="0"/>
              <a:t>By</a:t>
            </a:r>
          </a:p>
          <a:p>
            <a:pPr algn="ctr">
              <a:lnSpc>
                <a:spcPct val="90000"/>
              </a:lnSpc>
            </a:pPr>
            <a:endParaRPr lang="en-US" sz="1600" dirty="0"/>
          </a:p>
          <a:p>
            <a:pPr algn="ctr">
              <a:lnSpc>
                <a:spcPct val="90000"/>
              </a:lnSpc>
            </a:pPr>
            <a:r>
              <a:rPr lang="en-US" sz="1600" dirty="0"/>
              <a:t>Sanjay Saini(2202900140037)</a:t>
            </a:r>
          </a:p>
          <a:p>
            <a:pPr algn="ctr">
              <a:lnSpc>
                <a:spcPct val="90000"/>
              </a:lnSpc>
            </a:pPr>
            <a:r>
              <a:rPr lang="en-US" sz="1600" dirty="0"/>
              <a:t>Prabhat Singh Chauhan(2202900140027)</a:t>
            </a:r>
          </a:p>
          <a:p>
            <a:pPr algn="ctr">
              <a:lnSpc>
                <a:spcPct val="90000"/>
              </a:lnSpc>
            </a:pPr>
            <a:r>
              <a:rPr lang="en-US" sz="1600" dirty="0"/>
              <a:t>Pranjul Awasthi(2202900140028)</a:t>
            </a:r>
          </a:p>
          <a:p>
            <a:pPr algn="ctr">
              <a:lnSpc>
                <a:spcPct val="90000"/>
              </a:lnSpc>
            </a:pPr>
            <a:r>
              <a:rPr lang="en-US" sz="1600" dirty="0"/>
              <a:t>Prashant Kumar(2202900140030)</a:t>
            </a:r>
          </a:p>
          <a:p>
            <a:pPr algn="ctr">
              <a:lnSpc>
                <a:spcPct val="90000"/>
              </a:lnSpc>
            </a:pPr>
            <a:r>
              <a:rPr lang="en-US" sz="1600" dirty="0"/>
              <a:t>Prateek Yadav(2202900140031)</a:t>
            </a:r>
          </a:p>
          <a:p>
            <a:pPr algn="ctr">
              <a:lnSpc>
                <a:spcPct val="90000"/>
              </a:lnSpc>
            </a:pPr>
            <a:endParaRPr lang="en-US" sz="1600" dirty="0"/>
          </a:p>
          <a:p>
            <a:pPr algn="ctr">
              <a:lnSpc>
                <a:spcPct val="90000"/>
              </a:lnSpc>
            </a:pPr>
            <a:endParaRPr lang="en-US" sz="1600" b="1" dirty="0"/>
          </a:p>
          <a:p>
            <a:pPr algn="ctr">
              <a:lnSpc>
                <a:spcPct val="90000"/>
              </a:lnSpc>
            </a:pPr>
            <a:r>
              <a:rPr lang="en-US" sz="1600" b="1" dirty="0"/>
              <a:t>Under the Supervision</a:t>
            </a:r>
          </a:p>
          <a:p>
            <a:pPr algn="ctr">
              <a:lnSpc>
                <a:spcPct val="90000"/>
              </a:lnSpc>
            </a:pPr>
            <a:r>
              <a:rPr lang="en-US" sz="1600" b="1" dirty="0"/>
              <a:t>of </a:t>
            </a:r>
          </a:p>
          <a:p>
            <a:pPr algn="ctr">
              <a:lnSpc>
                <a:spcPct val="90000"/>
              </a:lnSpc>
            </a:pPr>
            <a:r>
              <a:rPr lang="en-US" sz="1600" b="1" dirty="0"/>
              <a:t>Mrs. Deepshikha Rai</a:t>
            </a:r>
          </a:p>
          <a:p>
            <a:pPr algn="ctr">
              <a:lnSpc>
                <a:spcPct val="90000"/>
              </a:lnSpc>
            </a:pPr>
            <a:r>
              <a:rPr lang="en-US" sz="1600" b="1" dirty="0"/>
              <a:t>(Assistant Professor)</a:t>
            </a:r>
          </a:p>
          <a:p>
            <a:pPr algn="ctr">
              <a:lnSpc>
                <a:spcPct val="90000"/>
              </a:lnSpc>
            </a:pPr>
            <a:endParaRPr lang="en-US" sz="1600" b="1" dirty="0"/>
          </a:p>
          <a:p>
            <a:pPr algn="ctr">
              <a:lnSpc>
                <a:spcPct val="90000"/>
              </a:lnSpc>
            </a:pPr>
            <a:r>
              <a:rPr lang="en-US" sz="1600" b="1" dirty="0"/>
              <a:t>Department of Master Of Computer Application</a:t>
            </a:r>
          </a:p>
          <a:p>
            <a:pPr algn="ctr">
              <a:lnSpc>
                <a:spcPct val="90000"/>
              </a:lnSpc>
            </a:pPr>
            <a:r>
              <a:rPr lang="en-US" sz="1600" b="1" dirty="0"/>
              <a:t>ABES INSTITUTE OF TECHNOLOGY,GHAZIABAD</a:t>
            </a:r>
          </a:p>
          <a:p>
            <a:pPr algn="ctr">
              <a:lnSpc>
                <a:spcPct val="90000"/>
              </a:lnSpc>
            </a:pPr>
            <a:endParaRPr lang="en-US" sz="1600" b="1" dirty="0"/>
          </a:p>
          <a:p>
            <a:pPr algn="ctr">
              <a:lnSpc>
                <a:spcPct val="90000"/>
              </a:lnSpc>
            </a:pPr>
            <a:r>
              <a:rPr lang="en-US" sz="1600" dirty="0"/>
              <a:t>Affiliated to</a:t>
            </a:r>
          </a:p>
          <a:p>
            <a:pPr algn="ctr">
              <a:lnSpc>
                <a:spcPct val="90000"/>
              </a:lnSpc>
            </a:pPr>
            <a:endParaRPr lang="en-US" sz="1600" b="1" dirty="0"/>
          </a:p>
          <a:p>
            <a:pPr algn="ctr">
              <a:lnSpc>
                <a:spcPct val="90000"/>
              </a:lnSpc>
            </a:pPr>
            <a:r>
              <a:rPr lang="en-US" sz="1600" b="1" dirty="0"/>
              <a:t>DR. A.P.J. ABDUL KALAM TECHNICAL UNIVERSITY</a:t>
            </a:r>
          </a:p>
          <a:p>
            <a:pPr algn="ctr">
              <a:lnSpc>
                <a:spcPct val="90000"/>
              </a:lnSpc>
            </a:pPr>
            <a:r>
              <a:rPr lang="en-US" sz="1600" b="1" dirty="0"/>
              <a:t>LUCKNOW,UTTAR PRADESH</a:t>
            </a:r>
          </a:p>
          <a:p>
            <a:pPr algn="ctr">
              <a:lnSpc>
                <a:spcPct val="90000"/>
              </a:lnSpc>
            </a:pPr>
            <a:r>
              <a:rPr lang="en-US" sz="1600" b="1" dirty="0"/>
              <a:t>(ODD SEM, 2023-24)</a:t>
            </a:r>
          </a:p>
        </p:txBody>
      </p:sp>
      <p:pic>
        <p:nvPicPr>
          <p:cNvPr id="7" name="Picture 6">
            <a:extLst>
              <a:ext uri="{FF2B5EF4-FFF2-40B4-BE49-F238E27FC236}">
                <a16:creationId xmlns:a16="http://schemas.microsoft.com/office/drawing/2014/main" id="{41B52C07-43FE-0835-3E68-368EF37FE530}"/>
              </a:ext>
            </a:extLst>
          </p:cNvPr>
          <p:cNvPicPr>
            <a:picLocks noChangeAspect="1"/>
          </p:cNvPicPr>
          <p:nvPr/>
        </p:nvPicPr>
        <p:blipFill>
          <a:blip r:embed="rId2"/>
          <a:stretch>
            <a:fillRect/>
          </a:stretch>
        </p:blipFill>
        <p:spPr>
          <a:xfrm>
            <a:off x="9828212" y="412376"/>
            <a:ext cx="2354543" cy="1873624"/>
          </a:xfrm>
          <a:prstGeom prst="rect">
            <a:avLst/>
          </a:prstGeom>
        </p:spPr>
      </p:pic>
      <p:pic>
        <p:nvPicPr>
          <p:cNvPr id="9" name="Picture 8">
            <a:extLst>
              <a:ext uri="{FF2B5EF4-FFF2-40B4-BE49-F238E27FC236}">
                <a16:creationId xmlns:a16="http://schemas.microsoft.com/office/drawing/2014/main" id="{BFBB22AD-D163-14C1-AE24-14D1D57C91FC}"/>
              </a:ext>
            </a:extLst>
          </p:cNvPr>
          <p:cNvPicPr>
            <a:picLocks noChangeAspect="1"/>
          </p:cNvPicPr>
          <p:nvPr/>
        </p:nvPicPr>
        <p:blipFill>
          <a:blip r:embed="rId3"/>
          <a:stretch>
            <a:fillRect/>
          </a:stretch>
        </p:blipFill>
        <p:spPr>
          <a:xfrm>
            <a:off x="0" y="533400"/>
            <a:ext cx="3351212" cy="1035424"/>
          </a:xfrm>
          <a:prstGeom prst="rect">
            <a:avLst/>
          </a:prstGeom>
        </p:spPr>
      </p:pic>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1173162"/>
          </a:xfrm>
        </p:spPr>
        <p:txBody>
          <a:bodyPr>
            <a:normAutofit/>
          </a:bodyPr>
          <a:lstStyle/>
          <a:p>
            <a:pPr algn="ctr"/>
            <a:r>
              <a:rPr lang="en-US" sz="2800" b="1" u="sng" dirty="0">
                <a:solidFill>
                  <a:schemeClr val="tx1"/>
                </a:solidFill>
              </a:rPr>
              <a:t>ABSTRACT</a:t>
            </a:r>
          </a:p>
        </p:txBody>
      </p:sp>
      <p:sp>
        <p:nvSpPr>
          <p:cNvPr id="2" name="Content Placeholder 1"/>
          <p:cNvSpPr>
            <a:spLocks noGrp="1"/>
          </p:cNvSpPr>
          <p:nvPr>
            <p:ph idx="1"/>
          </p:nvPr>
        </p:nvSpPr>
        <p:spPr>
          <a:xfrm>
            <a:off x="1217614" y="1828800"/>
            <a:ext cx="10134598" cy="4754562"/>
          </a:xfrm>
        </p:spPr>
        <p:txBody>
          <a:bodyPr>
            <a:noAutofit/>
          </a:bodyPr>
          <a:lstStyle/>
          <a:p>
            <a:pPr marL="45720" indent="0" algn="just">
              <a:buNone/>
            </a:pPr>
            <a:r>
              <a:rPr lang="en-US" sz="2000" dirty="0">
                <a:latin typeface="Times New Roman" panose="02020603050405020304" pitchFamily="18" charset="0"/>
                <a:cs typeface="Times New Roman" panose="02020603050405020304" pitchFamily="18" charset="0"/>
              </a:rPr>
              <a:t>The Online Voting System is a web based application. The system has a centralized database to keep records of all the Voters and Candidates and Final Results. This web based system is time saving, work load reduced information available at time and it provide security for the data. During the election, the election commission of India has introduced a new method of polling by online voting system (OVS). The election commission will maintain this website. This is a simple, safe and secure method that takes minimum of time. </a:t>
            </a:r>
          </a:p>
          <a:p>
            <a:pPr marL="45720" indent="0" algn="just">
              <a:buNone/>
            </a:pPr>
            <a:r>
              <a:rPr lang="en-US" sz="2000" dirty="0">
                <a:latin typeface="Times New Roman" panose="02020603050405020304" pitchFamily="18" charset="0"/>
                <a:cs typeface="Times New Roman" panose="02020603050405020304" pitchFamily="18" charset="0"/>
              </a:rPr>
              <a:t>The word VOTE means to choose from a list, to elect or to determine. The main goal of voting (in a scenario involving the citizens of a given country) is to come up with leaders of the people’s choice. Most countries, India not an exception have problems when it comes to voting. Some of the problems involved include ridging votes during election, insecure or inaccessible polling stations, inadequate polling materials and also inexperienced personnel.</a:t>
            </a:r>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1020762"/>
          </a:xfrm>
        </p:spPr>
        <p:txBody>
          <a:bodyPr>
            <a:normAutofit/>
          </a:bodyPr>
          <a:lstStyle/>
          <a:p>
            <a:pPr algn="ctr"/>
            <a:r>
              <a:rPr lang="en-US" sz="2800" b="1" u="sng" dirty="0">
                <a:solidFill>
                  <a:schemeClr val="tx1"/>
                </a:solidFill>
              </a:rPr>
              <a:t>introduction</a:t>
            </a:r>
          </a:p>
        </p:txBody>
      </p:sp>
      <p:sp>
        <p:nvSpPr>
          <p:cNvPr id="2" name="Content Placeholder 1"/>
          <p:cNvSpPr>
            <a:spLocks noGrp="1"/>
          </p:cNvSpPr>
          <p:nvPr>
            <p:ph sz="half" idx="1"/>
          </p:nvPr>
        </p:nvSpPr>
        <p:spPr>
          <a:xfrm>
            <a:off x="1233278" y="1828800"/>
            <a:ext cx="10042733" cy="4495800"/>
          </a:xfrm>
        </p:spPr>
        <p:txBody>
          <a:bodyPr>
            <a:noAutofit/>
          </a:bodyPr>
          <a:lstStyle/>
          <a:p>
            <a:pPr marL="45720" indent="0" algn="just">
              <a:buNone/>
            </a:pPr>
            <a:r>
              <a:rPr lang="en-US" sz="2000" dirty="0">
                <a:latin typeface="Times New Roman" panose="02020603050405020304" pitchFamily="18" charset="0"/>
                <a:cs typeface="Times New Roman" panose="02020603050405020304" pitchFamily="18" charset="0"/>
              </a:rPr>
              <a:t>The existing manual Voting system consumes more time for Vote Casting. Voter has to wait for vote polling station to vote for a right candidate. The election officers has to be check the voter , this voter can vote in this booth then check voter ID present in voters list of booth those are information will be present then the voter can vote in that booth. The voter had to stand in the queue to cast his vote. All the work is done in paper ballot so it is very hard to locate a particular candidates, some voters cast their votes for all candidates. To overcome of all these problems we have to implement a web application, which is helpful for Voting from any where.</a:t>
            </a:r>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1020762"/>
          </a:xfrm>
        </p:spPr>
        <p:txBody>
          <a:bodyPr>
            <a:normAutofit/>
          </a:bodyPr>
          <a:lstStyle/>
          <a:p>
            <a:pPr algn="ctr"/>
            <a:r>
              <a:rPr lang="en-US" sz="2800" b="1" u="sng" dirty="0">
                <a:solidFill>
                  <a:schemeClr val="tx1"/>
                </a:solidFill>
              </a:rPr>
              <a:t>About project</a:t>
            </a:r>
          </a:p>
        </p:txBody>
      </p:sp>
      <p:sp>
        <p:nvSpPr>
          <p:cNvPr id="3" name="Text Placeholder 2"/>
          <p:cNvSpPr>
            <a:spLocks noGrp="1"/>
          </p:cNvSpPr>
          <p:nvPr>
            <p:ph sz="half" idx="1"/>
          </p:nvPr>
        </p:nvSpPr>
        <p:spPr>
          <a:xfrm>
            <a:off x="1233278" y="1828800"/>
            <a:ext cx="10042733" cy="4648200"/>
          </a:xfrm>
        </p:spPr>
        <p:txBody>
          <a:bodyPr>
            <a:noAutofit/>
          </a:bodyPr>
          <a:lstStyle/>
          <a:p>
            <a:pPr marL="45720" indent="0" algn="just">
              <a:buNone/>
            </a:pPr>
            <a:r>
              <a:rPr lang="en-US" sz="1800" dirty="0">
                <a:latin typeface="Times New Roman" panose="02020603050405020304" pitchFamily="18" charset="0"/>
                <a:cs typeface="Times New Roman" panose="02020603050405020304" pitchFamily="18" charset="0"/>
              </a:rPr>
              <a:t>An electronic voting system which is used nowadays provide some characteristic different from the traditional voting technique, and also it provides improved features of voting system over traditional voting system such as accuracy, convenience, flexibility, privacy, verifiability and mobility.</a:t>
            </a:r>
          </a:p>
          <a:p>
            <a:pPr marL="45720" indent="0" algn="just">
              <a:buNone/>
            </a:pPr>
            <a:r>
              <a:rPr lang="en-US" sz="1800" dirty="0">
                <a:latin typeface="Times New Roman" panose="02020603050405020304" pitchFamily="18" charset="0"/>
                <a:cs typeface="Times New Roman" panose="02020603050405020304" pitchFamily="18" charset="0"/>
              </a:rPr>
              <a:t>    But Electronic voting systems suffers from various drawbacks such as time consuming, consumes large volume of paper work, no direct role for the higher officials, damage of machines due to lack of attention, mass update doesn’t allows users to update and edit many item simultaneously etc. </a:t>
            </a:r>
          </a:p>
          <a:p>
            <a:pPr marL="45720" indent="0" algn="just">
              <a:buNone/>
            </a:pPr>
            <a:r>
              <a:rPr lang="en-US" sz="1800" dirty="0">
                <a:latin typeface="Times New Roman" panose="02020603050405020304" pitchFamily="18" charset="0"/>
                <a:cs typeface="Times New Roman" panose="02020603050405020304" pitchFamily="18" charset="0"/>
              </a:rPr>
              <a:t>    These drawbacks can overcome by Online Voting System. This is a voting system by which any voter can use his/her voting rights from anywhere in the country. Voter can cast their votes from anywhere in the country without visiting to voting booths, in highly secured way. That makes voting a fearless of violence and that increases the percentage of voting.</a:t>
            </a:r>
          </a:p>
        </p:txBody>
      </p:sp>
      <p:sp>
        <p:nvSpPr>
          <p:cNvPr id="7" name="TextBox 6">
            <a:extLst>
              <a:ext uri="{FF2B5EF4-FFF2-40B4-BE49-F238E27FC236}">
                <a16:creationId xmlns:a16="http://schemas.microsoft.com/office/drawing/2014/main" id="{557B85A4-A6CA-AE26-8810-F0850B89EFD4}"/>
              </a:ext>
            </a:extLst>
          </p:cNvPr>
          <p:cNvSpPr txBox="1"/>
          <p:nvPr/>
        </p:nvSpPr>
        <p:spPr>
          <a:xfrm>
            <a:off x="6780212" y="5334000"/>
            <a:ext cx="4343400" cy="230832"/>
          </a:xfrm>
          <a:prstGeom prst="rect">
            <a:avLst/>
          </a:prstGeom>
          <a:noFill/>
          <a:ln>
            <a:solidFill>
              <a:schemeClr val="bg2"/>
            </a:solidFill>
          </a:ln>
        </p:spPr>
        <p:txBody>
          <a:bodyPr wrap="square" rtlCol="0">
            <a:spAutoFit/>
          </a:bodyPr>
          <a:lstStyle/>
          <a:p>
            <a:endParaRPr lang="en-US" sz="900" dirty="0"/>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17614" y="274638"/>
            <a:ext cx="9753600" cy="563562"/>
          </a:xfrm>
        </p:spPr>
        <p:txBody>
          <a:bodyPr>
            <a:normAutofit/>
          </a:bodyPr>
          <a:lstStyle/>
          <a:p>
            <a:pPr algn="ctr"/>
            <a:r>
              <a:rPr lang="en-US" sz="2800" b="1" u="sng" dirty="0">
                <a:solidFill>
                  <a:schemeClr val="tx1"/>
                </a:solidFill>
              </a:rPr>
              <a:t>Literature Review</a:t>
            </a:r>
          </a:p>
        </p:txBody>
      </p:sp>
      <p:sp>
        <p:nvSpPr>
          <p:cNvPr id="6" name="Content Placeholder 5"/>
          <p:cNvSpPr>
            <a:spLocks noGrp="1"/>
          </p:cNvSpPr>
          <p:nvPr>
            <p:ph sz="half" idx="1"/>
          </p:nvPr>
        </p:nvSpPr>
        <p:spPr>
          <a:xfrm>
            <a:off x="379412" y="990600"/>
            <a:ext cx="11430000" cy="5638800"/>
          </a:xfrm>
        </p:spPr>
        <p:txBody>
          <a:bodyPr>
            <a:noAutofit/>
          </a:bodyPr>
          <a:lstStyle/>
          <a:p>
            <a:pPr marL="45720" indent="0" algn="just">
              <a:buNone/>
            </a:pPr>
            <a:r>
              <a:rPr lang="en-US" sz="1600" dirty="0">
                <a:latin typeface="Times New Roman" panose="02020603050405020304" pitchFamily="18" charset="0"/>
                <a:cs typeface="Times New Roman" panose="02020603050405020304" pitchFamily="18" charset="0"/>
              </a:rPr>
              <a:t>This is a system that can be used by user to cast vote in an election. All the voters have to login and click on cast vote to his/her chosen candidates to submit his/her vote. The research development and testing are done on LAN. On other hand online voting software is been in research for many years, researched cases of wrong implementations reported in recent years. These factors are need to be resolved so public can cast their vote in a secured and fitting environment. online voting is a voting software in which any user can use his/her voting rights from anywhere. </a:t>
            </a:r>
          </a:p>
          <a:p>
            <a:pPr marL="45720" indent="0" algn="just">
              <a:buNone/>
            </a:pPr>
            <a:r>
              <a:rPr lang="en-US" sz="1600" dirty="0">
                <a:latin typeface="Times New Roman" panose="02020603050405020304" pitchFamily="18" charset="0"/>
                <a:cs typeface="Times New Roman" panose="02020603050405020304" pitchFamily="18" charset="0"/>
              </a:rPr>
              <a:t>To make the voting process very easy and efficient wireless and web technologies are used. The online- voting system has the possibility of secure, easy and safe way to capture and count the votes in the election.</a:t>
            </a:r>
          </a:p>
          <a:p>
            <a:pPr marL="45720" indent="0" algn="just">
              <a:buNone/>
            </a:pPr>
            <a:r>
              <a:rPr lang="en-US" sz="1600" dirty="0">
                <a:latin typeface="Times New Roman" panose="02020603050405020304" pitchFamily="18" charset="0"/>
                <a:cs typeface="Times New Roman" panose="02020603050405020304" pitchFamily="18" charset="0"/>
              </a:rPr>
              <a:t>The author in [3] in 2017 ” online voting system based on </a:t>
            </a:r>
            <a:r>
              <a:rPr lang="en-US" sz="1600" dirty="0" err="1">
                <a:latin typeface="Times New Roman" panose="02020603050405020304" pitchFamily="18" charset="0"/>
                <a:cs typeface="Times New Roman" panose="02020603050405020304" pitchFamily="18" charset="0"/>
              </a:rPr>
              <a:t>adhaar</a:t>
            </a:r>
            <a:r>
              <a:rPr lang="en-US" sz="1600" dirty="0">
                <a:latin typeface="Times New Roman" panose="02020603050405020304" pitchFamily="18" charset="0"/>
                <a:cs typeface="Times New Roman" panose="02020603050405020304" pitchFamily="18" charset="0"/>
              </a:rPr>
              <a:t> id” uses </a:t>
            </a:r>
            <a:r>
              <a:rPr lang="en-US" sz="1600" dirty="0" err="1">
                <a:latin typeface="Times New Roman" panose="02020603050405020304" pitchFamily="18" charset="0"/>
                <a:cs typeface="Times New Roman" panose="02020603050405020304" pitchFamily="18" charset="0"/>
              </a:rPr>
              <a:t>adhaar</a:t>
            </a:r>
            <a:r>
              <a:rPr lang="en-US" sz="1600" dirty="0">
                <a:latin typeface="Times New Roman" panose="02020603050405020304" pitchFamily="18" charset="0"/>
                <a:cs typeface="Times New Roman" panose="02020603050405020304" pitchFamily="18" charset="0"/>
              </a:rPr>
              <a:t> id as key of authentication, system is efficient in terms of time and provides security the system is great improvement over traditional system but the main problem resides in this system is that of authentication, the authentication technique used is not that efficient as biometric is not used.</a:t>
            </a:r>
          </a:p>
          <a:p>
            <a:pPr marL="45720" indent="0" algn="just">
              <a:buNone/>
            </a:pPr>
            <a:r>
              <a:rPr lang="en-US" sz="1600" dirty="0">
                <a:latin typeface="Times New Roman" panose="02020603050405020304" pitchFamily="18" charset="0"/>
                <a:cs typeface="Times New Roman" panose="02020603050405020304" pitchFamily="18" charset="0"/>
              </a:rPr>
              <a:t>The paper [4] in 2019” Secure Authentication for Online Voting System” presents non traceability and integrity of the votes, smart card has been used to avoid multiple votes casted by users, biometric is being used for authenticating voters. The author has introduced smart card for biometric identification and voter id card to be used at the time of casting vote. They are using smart card and voter id card at the time of election which is not feasible as anything can happen to those cards thus relying completely upon cards in not a good idea. And the use of various cards makes the system costly now each and every voter need to have these additional cards. Also it may take reasonable amount of time to generate so many cards. All voting system generated priory though have met various features, which a voting system may consists but the main problem one could find in these system is that little “online” word, despite all techniques they have used to make system robust there is always a chance of malpractice when your system is online.</a:t>
            </a:r>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17614" y="274638"/>
            <a:ext cx="9753600" cy="563562"/>
          </a:xfrm>
        </p:spPr>
        <p:txBody>
          <a:bodyPr>
            <a:normAutofit/>
          </a:bodyPr>
          <a:lstStyle/>
          <a:p>
            <a:pPr algn="ctr"/>
            <a:r>
              <a:rPr lang="en-US" sz="2800" b="1" u="sng" dirty="0">
                <a:solidFill>
                  <a:schemeClr val="tx1"/>
                </a:solidFill>
              </a:rPr>
              <a:t>Problem with  the existing system</a:t>
            </a:r>
          </a:p>
        </p:txBody>
      </p:sp>
      <p:sp>
        <p:nvSpPr>
          <p:cNvPr id="9" name="Content Placeholder 8"/>
          <p:cNvSpPr>
            <a:spLocks noGrp="1"/>
          </p:cNvSpPr>
          <p:nvPr>
            <p:ph idx="1"/>
          </p:nvPr>
        </p:nvSpPr>
        <p:spPr>
          <a:xfrm>
            <a:off x="303212" y="1066800"/>
            <a:ext cx="11658600" cy="5638800"/>
          </a:xfrm>
        </p:spPr>
        <p:txBody>
          <a:bodyPr>
            <a:noAutofit/>
          </a:bodyPr>
          <a:lstStyle/>
          <a:p>
            <a:pPr marL="45720" indent="0">
              <a:buNone/>
            </a:pPr>
            <a:r>
              <a:rPr lang="en-US" sz="1400" dirty="0">
                <a:latin typeface="Times New Roman" panose="02020603050405020304" pitchFamily="18" charset="0"/>
                <a:cs typeface="Times New Roman" panose="02020603050405020304" pitchFamily="18" charset="0"/>
              </a:rPr>
              <a:t>The problems of the existing manual system of voting include among others the following:</a:t>
            </a:r>
          </a:p>
          <a:p>
            <a:pPr marL="45720" indent="0">
              <a:buNone/>
            </a:pPr>
            <a:r>
              <a:rPr lang="en-US" sz="1400" dirty="0">
                <a:latin typeface="Times New Roman" panose="02020603050405020304" pitchFamily="18" charset="0"/>
                <a:cs typeface="Times New Roman" panose="02020603050405020304" pitchFamily="18" charset="0"/>
              </a:rPr>
              <a:t> 1. </a:t>
            </a:r>
            <a:r>
              <a:rPr lang="en-US" sz="1400" b="1" dirty="0">
                <a:latin typeface="Times New Roman" panose="02020603050405020304" pitchFamily="18" charset="0"/>
                <a:cs typeface="Times New Roman" panose="02020603050405020304" pitchFamily="18" charset="0"/>
              </a:rPr>
              <a:t>Expensive and Time Consuming: </a:t>
            </a:r>
          </a:p>
          <a:p>
            <a:pPr marL="45720" indent="0" algn="just">
              <a:buNone/>
            </a:pPr>
            <a:r>
              <a:rPr lang="en-US" sz="1400" dirty="0">
                <a:latin typeface="Times New Roman" panose="02020603050405020304" pitchFamily="18" charset="0"/>
                <a:cs typeface="Times New Roman" panose="02020603050405020304" pitchFamily="18" charset="0"/>
              </a:rPr>
              <a:t>The process of collecting data and entering this data into the database takes too much time and is expensive to conduct, for example, time and money is spent in printing data capture forms, in preparing registration stations together with human resources, and there after advertising the days set for registration process including sensitizing voters on the need for registration, as well as time spent on entering this data to the database.</a:t>
            </a:r>
          </a:p>
          <a:p>
            <a:pPr marL="45720" indent="0">
              <a:buNone/>
            </a:pPr>
            <a:r>
              <a:rPr lang="en-US" sz="1400" dirty="0">
                <a:latin typeface="Times New Roman" panose="02020603050405020304" pitchFamily="18" charset="0"/>
                <a:cs typeface="Times New Roman" panose="02020603050405020304" pitchFamily="18" charset="0"/>
              </a:rPr>
              <a:t> 2. </a:t>
            </a:r>
            <a:r>
              <a:rPr lang="en-US" sz="1400" b="1" dirty="0">
                <a:latin typeface="Times New Roman" panose="02020603050405020304" pitchFamily="18" charset="0"/>
                <a:cs typeface="Times New Roman" panose="02020603050405020304" pitchFamily="18" charset="0"/>
              </a:rPr>
              <a:t>Too much paper work:</a:t>
            </a:r>
          </a:p>
          <a:p>
            <a:pPr marL="45720" indent="0">
              <a:buNone/>
            </a:pP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The process involves too much paper work and paper storage which is difficult as papers become bulky with the population size.</a:t>
            </a:r>
          </a:p>
          <a:p>
            <a:pPr marL="45720" indent="0">
              <a:buNone/>
            </a:pPr>
            <a:r>
              <a:rPr lang="en-US" sz="1400" dirty="0">
                <a:latin typeface="Times New Roman" panose="02020603050405020304" pitchFamily="18" charset="0"/>
                <a:cs typeface="Times New Roman" panose="02020603050405020304" pitchFamily="18" charset="0"/>
              </a:rPr>
              <a:t> 3. </a:t>
            </a:r>
            <a:r>
              <a:rPr lang="en-US" sz="1400" b="1" dirty="0">
                <a:latin typeface="Times New Roman" panose="02020603050405020304" pitchFamily="18" charset="0"/>
                <a:cs typeface="Times New Roman" panose="02020603050405020304" pitchFamily="18" charset="0"/>
              </a:rPr>
              <a:t>Error during data entry</a:t>
            </a:r>
            <a:r>
              <a:rPr lang="en-US" sz="1400" dirty="0">
                <a:latin typeface="Times New Roman" panose="02020603050405020304" pitchFamily="18" charset="0"/>
                <a:cs typeface="Times New Roman" panose="02020603050405020304" pitchFamily="18" charset="0"/>
              </a:rPr>
              <a:t>:</a:t>
            </a:r>
          </a:p>
          <a:p>
            <a:pPr marL="45720" indent="0">
              <a:buNone/>
            </a:pPr>
            <a:r>
              <a:rPr lang="en-US" sz="1400" dirty="0">
                <a:latin typeface="Times New Roman" panose="02020603050405020304" pitchFamily="18" charset="0"/>
                <a:cs typeface="Times New Roman" panose="02020603050405020304" pitchFamily="18" charset="0"/>
              </a:rPr>
              <a:t> Errors are part of all human beings; it is very unlikely for humans to be 100 percent efficiency in data entry. </a:t>
            </a:r>
          </a:p>
          <a:p>
            <a:pPr marL="45720" indent="0">
              <a:buNone/>
            </a:pPr>
            <a:r>
              <a:rPr lang="en-US" sz="1400" dirty="0">
                <a:latin typeface="Times New Roman" panose="02020603050405020304" pitchFamily="18" charset="0"/>
                <a:cs typeface="Times New Roman" panose="02020603050405020304" pitchFamily="18" charset="0"/>
              </a:rPr>
              <a:t>4. </a:t>
            </a:r>
            <a:r>
              <a:rPr lang="en-US" sz="1400" b="1" dirty="0">
                <a:latin typeface="Times New Roman" panose="02020603050405020304" pitchFamily="18" charset="0"/>
                <a:cs typeface="Times New Roman" panose="02020603050405020304" pitchFamily="18" charset="0"/>
              </a:rPr>
              <a:t>Loss of Registration Forms:</a:t>
            </a:r>
          </a:p>
          <a:p>
            <a:pPr marL="45720" indent="0">
              <a:buNone/>
            </a:pP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Some times, registration forms get lost after being filled in with voter’s details, in most cases these are difficult to follow-up and therefore many remain unregistered even though they are voting age nationals and interested in exercising their right to vote. </a:t>
            </a:r>
          </a:p>
          <a:p>
            <a:pPr marL="45720" indent="0">
              <a:buNone/>
            </a:pPr>
            <a:r>
              <a:rPr lang="en-US" sz="1400" dirty="0">
                <a:latin typeface="Times New Roman" panose="02020603050405020304" pitchFamily="18" charset="0"/>
                <a:cs typeface="Times New Roman" panose="02020603050405020304" pitchFamily="18" charset="0"/>
              </a:rPr>
              <a:t>5. </a:t>
            </a:r>
            <a:r>
              <a:rPr lang="en-US" sz="1400" b="1" dirty="0">
                <a:latin typeface="Times New Roman" panose="02020603050405020304" pitchFamily="18" charset="0"/>
                <a:cs typeface="Times New Roman" panose="02020603050405020304" pitchFamily="18" charset="0"/>
              </a:rPr>
              <a:t>Short time provided to view the voter register:</a:t>
            </a:r>
          </a:p>
          <a:p>
            <a:pPr marL="45720" indent="0">
              <a:buNone/>
            </a:pP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This is very big problem since not all people have free time during the given short period of time to check and update the voter register</a:t>
            </a:r>
          </a:p>
        </p:txBody>
      </p:sp>
    </p:spTree>
    <p:extLst>
      <p:ext uri="{BB962C8B-B14F-4D97-AF65-F5344CB8AC3E}">
        <p14:creationId xmlns:p14="http://schemas.microsoft.com/office/powerpoint/2010/main" val="255394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715962"/>
          </a:xfrm>
        </p:spPr>
        <p:txBody>
          <a:bodyPr>
            <a:normAutofit/>
          </a:bodyPr>
          <a:lstStyle/>
          <a:p>
            <a:pPr algn="ctr"/>
            <a:r>
              <a:rPr lang="en-US" sz="2800" b="1" u="sng" dirty="0">
                <a:solidFill>
                  <a:schemeClr val="tx1"/>
                </a:solidFill>
              </a:rPr>
              <a:t>E-Bharat : AN essential voting System</a:t>
            </a:r>
          </a:p>
        </p:txBody>
      </p:sp>
      <p:sp>
        <p:nvSpPr>
          <p:cNvPr id="5" name="Content Placeholder 4"/>
          <p:cNvSpPr>
            <a:spLocks noGrp="1"/>
          </p:cNvSpPr>
          <p:nvPr>
            <p:ph sz="half" idx="1"/>
          </p:nvPr>
        </p:nvSpPr>
        <p:spPr>
          <a:xfrm>
            <a:off x="655269" y="1485899"/>
            <a:ext cx="10849343" cy="5029200"/>
          </a:xfrm>
        </p:spPr>
        <p:txBody>
          <a:bodyPr>
            <a:noAutofit/>
          </a:bodyPr>
          <a:lstStyle/>
          <a:p>
            <a:pPr marL="45720" indent="0" algn="just">
              <a:buNone/>
            </a:pPr>
            <a:r>
              <a:rPr lang="en-US" sz="1800" dirty="0">
                <a:latin typeface="Times New Roman" panose="02020603050405020304" pitchFamily="18" charset="0"/>
                <a:cs typeface="Times New Roman" panose="02020603050405020304" pitchFamily="18" charset="0"/>
              </a:rPr>
              <a:t>As we are looking at the existing system, they are just providing online voting. As we knew that Government of India conduct multiple elections. So we are implementing our system such that voter can select election and submit their vote region/ward wise. After studying existing system we observed that they are not providing state wise, region wise voting facility. So its difficult to vote because there is no restriction, so voter can also cast his/her vote to those candidate who is not belonging from his/her area.</a:t>
            </a:r>
          </a:p>
          <a:p>
            <a:pPr marL="45720" indent="0" algn="just">
              <a:buNone/>
            </a:pPr>
            <a:r>
              <a:rPr lang="en-US" sz="1800" dirty="0">
                <a:latin typeface="Times New Roman" panose="02020603050405020304" pitchFamily="18" charset="0"/>
                <a:cs typeface="Times New Roman" panose="02020603050405020304" pitchFamily="18" charset="0"/>
              </a:rPr>
              <a:t>In proposed system we are implementing that voter can cast his/her vote only those candidate who’s belonging from his/her region/ward. We will display only those candidate who are belonging from that particular voters ward. So it will also help to conduct small election such as Gram Panchayat Election or Nagar Sevak Election. We are making our voting system user friendly.</a:t>
            </a:r>
          </a:p>
          <a:p>
            <a:pPr marL="45720" indent="0" algn="just">
              <a:buNone/>
            </a:pPr>
            <a:endParaRPr lang="en-US" sz="2000" dirty="0"/>
          </a:p>
        </p:txBody>
      </p:sp>
    </p:spTree>
    <p:extLst>
      <p:ext uri="{BB962C8B-B14F-4D97-AF65-F5344CB8AC3E}">
        <p14:creationId xmlns:p14="http://schemas.microsoft.com/office/powerpoint/2010/main" val="404019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792162"/>
          </a:xfrm>
        </p:spPr>
        <p:txBody>
          <a:bodyPr>
            <a:normAutofit/>
          </a:bodyPr>
          <a:lstStyle/>
          <a:p>
            <a:pPr algn="ctr"/>
            <a:r>
              <a:rPr lang="en-US" sz="2800" b="1" u="sng" dirty="0">
                <a:solidFill>
                  <a:schemeClr val="tx1"/>
                </a:solidFill>
              </a:rPr>
              <a:t>System requirement</a:t>
            </a:r>
          </a:p>
        </p:txBody>
      </p:sp>
      <p:sp>
        <p:nvSpPr>
          <p:cNvPr id="3" name="Content Placeholder 2"/>
          <p:cNvSpPr>
            <a:spLocks noGrp="1"/>
          </p:cNvSpPr>
          <p:nvPr>
            <p:ph sz="half" idx="1"/>
          </p:nvPr>
        </p:nvSpPr>
        <p:spPr>
          <a:xfrm>
            <a:off x="1522412" y="1676400"/>
            <a:ext cx="9280734" cy="4572000"/>
          </a:xfrm>
        </p:spPr>
        <p:txBody>
          <a:bodyPr>
            <a:noAutofit/>
          </a:bodyPr>
          <a:lstStyle/>
          <a:p>
            <a:pPr marL="45720" indent="0">
              <a:buNone/>
            </a:pPr>
            <a:r>
              <a:rPr lang="en-US" sz="1800" b="1" dirty="0">
                <a:latin typeface="Times New Roman" panose="02020603050405020304" pitchFamily="18" charset="0"/>
                <a:cs typeface="Times New Roman" panose="02020603050405020304" pitchFamily="18" charset="0"/>
              </a:rPr>
              <a:t>MINIMUM HARDWARE REQUIREMENT:</a:t>
            </a: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Processor – </a:t>
            </a:r>
            <a:r>
              <a:rPr lang="en-US" sz="1800" dirty="0">
                <a:latin typeface="Times New Roman" panose="02020603050405020304" pitchFamily="18" charset="0"/>
                <a:cs typeface="Times New Roman" panose="02020603050405020304" pitchFamily="18" charset="0"/>
              </a:rPr>
              <a:t>Intel Pentium G6405 2.2GHz or Above/AMD </a:t>
            </a: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RAM- </a:t>
            </a:r>
            <a:r>
              <a:rPr lang="en-US" sz="1800" dirty="0">
                <a:latin typeface="Times New Roman" panose="02020603050405020304" pitchFamily="18" charset="0"/>
                <a:cs typeface="Times New Roman" panose="02020603050405020304" pitchFamily="18" charset="0"/>
              </a:rPr>
              <a:t>512MB or Above </a:t>
            </a: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Hard Disk – </a:t>
            </a:r>
            <a:r>
              <a:rPr lang="en-US" sz="1800" dirty="0">
                <a:latin typeface="Times New Roman" panose="02020603050405020304" pitchFamily="18" charset="0"/>
                <a:cs typeface="Times New Roman" panose="02020603050405020304" pitchFamily="18" charset="0"/>
              </a:rPr>
              <a:t>10GB Or Above</a:t>
            </a:r>
          </a:p>
          <a:p>
            <a:pPr marL="45720" indent="0">
              <a:buNone/>
            </a:pPr>
            <a:endParaRPr lang="en-US" sz="1800" dirty="0">
              <a:latin typeface="Times New Roman" panose="02020603050405020304" pitchFamily="18" charset="0"/>
              <a:cs typeface="Times New Roman" panose="02020603050405020304" pitchFamily="18" charset="0"/>
            </a:endParaRP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SOFTWARE REQUIREMENT: </a:t>
            </a: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Front-End-</a:t>
            </a:r>
            <a:r>
              <a:rPr lang="en-US" sz="1800" dirty="0">
                <a:latin typeface="Times New Roman" panose="02020603050405020304" pitchFamily="18" charset="0"/>
                <a:cs typeface="Times New Roman" panose="02020603050405020304" pitchFamily="18" charset="0"/>
              </a:rPr>
              <a:t> HTML, CSS, Bootstrap, JavaScript</a:t>
            </a: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Back-End – </a:t>
            </a:r>
            <a:r>
              <a:rPr lang="en-US" sz="1800" dirty="0">
                <a:latin typeface="Times New Roman" panose="02020603050405020304" pitchFamily="18" charset="0"/>
                <a:cs typeface="Times New Roman" panose="02020603050405020304" pitchFamily="18" charset="0"/>
              </a:rPr>
              <a:t>MYSQL, PHP</a:t>
            </a: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Operating System- </a:t>
            </a:r>
            <a:r>
              <a:rPr lang="en-US" sz="1800" dirty="0">
                <a:latin typeface="Times New Roman" panose="02020603050405020304" pitchFamily="18" charset="0"/>
                <a:cs typeface="Times New Roman" panose="02020603050405020304" pitchFamily="18" charset="0"/>
              </a:rPr>
              <a:t>WINDOWS XP or Above </a:t>
            </a:r>
          </a:p>
          <a:p>
            <a:pPr marL="4572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Browser-</a:t>
            </a:r>
            <a:r>
              <a:rPr lang="en-US" sz="1800" dirty="0">
                <a:latin typeface="Times New Roman" panose="02020603050405020304" pitchFamily="18" charset="0"/>
                <a:cs typeface="Times New Roman" panose="02020603050405020304" pitchFamily="18" charset="0"/>
              </a:rPr>
              <a:t> Any latest Browser</a:t>
            </a:r>
          </a:p>
        </p:txBody>
      </p:sp>
    </p:spTree>
    <p:extLst>
      <p:ext uri="{BB962C8B-B14F-4D97-AF65-F5344CB8AC3E}">
        <p14:creationId xmlns:p14="http://schemas.microsoft.com/office/powerpoint/2010/main" val="2600421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1B3EC7-A5F0-7050-CCE7-C3F820385422}"/>
              </a:ext>
            </a:extLst>
          </p:cNvPr>
          <p:cNvSpPr txBox="1"/>
          <p:nvPr/>
        </p:nvSpPr>
        <p:spPr>
          <a:xfrm>
            <a:off x="3579812" y="76200"/>
            <a:ext cx="4876800" cy="424732"/>
          </a:xfrm>
          <a:prstGeom prst="rect">
            <a:avLst/>
          </a:prstGeom>
          <a:noFill/>
          <a:ln>
            <a:solidFill>
              <a:schemeClr val="bg2"/>
            </a:solidFill>
          </a:ln>
        </p:spPr>
        <p:txBody>
          <a:bodyPr wrap="square" rtlCol="0">
            <a:spAutoFit/>
          </a:bodyPr>
          <a:lstStyle/>
          <a:p>
            <a:pPr algn="ctr">
              <a:lnSpc>
                <a:spcPct val="90000"/>
              </a:lnSpc>
            </a:pPr>
            <a:r>
              <a:rPr lang="en-US" sz="2400" b="1" u="sng" dirty="0"/>
              <a:t>Use </a:t>
            </a:r>
            <a:r>
              <a:rPr lang="en-US" sz="2400" b="1" u="sng" dirty="0">
                <a:latin typeface="Times New Roman" panose="02020603050405020304" pitchFamily="18" charset="0"/>
                <a:cs typeface="Times New Roman" panose="02020603050405020304" pitchFamily="18" charset="0"/>
              </a:rPr>
              <a:t>Case</a:t>
            </a:r>
            <a:r>
              <a:rPr lang="en-US" sz="2400" b="1" u="sng" dirty="0"/>
              <a:t> Diagram</a:t>
            </a:r>
          </a:p>
        </p:txBody>
      </p:sp>
      <p:pic>
        <p:nvPicPr>
          <p:cNvPr id="5" name="Picture 4">
            <a:extLst>
              <a:ext uri="{FF2B5EF4-FFF2-40B4-BE49-F238E27FC236}">
                <a16:creationId xmlns:a16="http://schemas.microsoft.com/office/drawing/2014/main" id="{18FAD55A-791E-4FAB-40E4-94F0C79C5A95}"/>
              </a:ext>
            </a:extLst>
          </p:cNvPr>
          <p:cNvPicPr>
            <a:picLocks noChangeAspect="1"/>
          </p:cNvPicPr>
          <p:nvPr/>
        </p:nvPicPr>
        <p:blipFill>
          <a:blip r:embed="rId2"/>
          <a:stretch>
            <a:fillRect/>
          </a:stretch>
        </p:blipFill>
        <p:spPr>
          <a:xfrm>
            <a:off x="303212" y="730624"/>
            <a:ext cx="11582400" cy="6096000"/>
          </a:xfrm>
          <a:prstGeom prst="rect">
            <a:avLst/>
          </a:prstGeom>
        </p:spPr>
      </p:pic>
    </p:spTree>
    <p:extLst>
      <p:ext uri="{BB962C8B-B14F-4D97-AF65-F5344CB8AC3E}">
        <p14:creationId xmlns:p14="http://schemas.microsoft.com/office/powerpoint/2010/main" val="227236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B9092B-631A-B49A-DA04-A62EC157FF56}"/>
              </a:ext>
            </a:extLst>
          </p:cNvPr>
          <p:cNvSpPr txBox="1"/>
          <p:nvPr/>
        </p:nvSpPr>
        <p:spPr>
          <a:xfrm>
            <a:off x="1941510" y="277906"/>
            <a:ext cx="7924800" cy="424732"/>
          </a:xfrm>
          <a:prstGeom prst="rect">
            <a:avLst/>
          </a:prstGeom>
          <a:noFill/>
          <a:ln>
            <a:solidFill>
              <a:schemeClr val="bg2"/>
            </a:solidFill>
          </a:ln>
        </p:spPr>
        <p:txBody>
          <a:bodyPr wrap="square" rtlCol="0">
            <a:spAutoFit/>
          </a:bodyPr>
          <a:lstStyle/>
          <a:p>
            <a:pPr algn="ctr">
              <a:lnSpc>
                <a:spcPct val="90000"/>
              </a:lnSpc>
            </a:pPr>
            <a:r>
              <a:rPr lang="en-US" sz="2400" b="1" u="sng" dirty="0">
                <a:latin typeface="Times New Roman" panose="02020603050405020304" pitchFamily="18" charset="0"/>
                <a:cs typeface="Times New Roman" panose="02020603050405020304" pitchFamily="18" charset="0"/>
              </a:rPr>
              <a:t>Flowchart of Admin</a:t>
            </a:r>
          </a:p>
        </p:txBody>
      </p:sp>
      <p:pic>
        <p:nvPicPr>
          <p:cNvPr id="6" name="Picture 5">
            <a:extLst>
              <a:ext uri="{FF2B5EF4-FFF2-40B4-BE49-F238E27FC236}">
                <a16:creationId xmlns:a16="http://schemas.microsoft.com/office/drawing/2014/main" id="{6990E130-BAC5-1A14-BF78-FF1866E7BFE8}"/>
              </a:ext>
            </a:extLst>
          </p:cNvPr>
          <p:cNvPicPr>
            <a:picLocks noChangeAspect="1"/>
          </p:cNvPicPr>
          <p:nvPr/>
        </p:nvPicPr>
        <p:blipFill>
          <a:blip r:embed="rId2"/>
          <a:stretch>
            <a:fillRect/>
          </a:stretch>
        </p:blipFill>
        <p:spPr>
          <a:xfrm>
            <a:off x="3046410" y="990600"/>
            <a:ext cx="5715001" cy="5562600"/>
          </a:xfrm>
          <a:prstGeom prst="rect">
            <a:avLst/>
          </a:prstGeom>
        </p:spPr>
      </p:pic>
    </p:spTree>
    <p:extLst>
      <p:ext uri="{BB962C8B-B14F-4D97-AF65-F5344CB8AC3E}">
        <p14:creationId xmlns:p14="http://schemas.microsoft.com/office/powerpoint/2010/main" val="135063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3CD0C52-9030-1065-D5C0-DAA77CF1A548}"/>
              </a:ext>
            </a:extLst>
          </p:cNvPr>
          <p:cNvSpPr>
            <a:spLocks noGrp="1"/>
          </p:cNvSpPr>
          <p:nvPr>
            <p:ph type="subTitle" idx="1"/>
          </p:nvPr>
        </p:nvSpPr>
        <p:spPr>
          <a:xfrm>
            <a:off x="2170112" y="266700"/>
            <a:ext cx="7848600" cy="381000"/>
          </a:xfrm>
        </p:spPr>
        <p:txBody>
          <a:bodyPr>
            <a:noAutofit/>
          </a:bodyPr>
          <a:lstStyle/>
          <a:p>
            <a:pPr algn="ctr"/>
            <a:r>
              <a:rPr lang="en-US" sz="2400" b="1" u="sng" dirty="0">
                <a:latin typeface="Times New Roman" panose="02020603050405020304" pitchFamily="18" charset="0"/>
                <a:cs typeface="Times New Roman" panose="02020603050405020304" pitchFamily="18" charset="0"/>
              </a:rPr>
              <a:t>Flowchart of Voter</a:t>
            </a:r>
          </a:p>
        </p:txBody>
      </p:sp>
      <p:pic>
        <p:nvPicPr>
          <p:cNvPr id="5" name="Picture 4">
            <a:extLst>
              <a:ext uri="{FF2B5EF4-FFF2-40B4-BE49-F238E27FC236}">
                <a16:creationId xmlns:a16="http://schemas.microsoft.com/office/drawing/2014/main" id="{878E0F95-D79E-D7F2-F2BF-4BD11E62A99D}"/>
              </a:ext>
            </a:extLst>
          </p:cNvPr>
          <p:cNvPicPr>
            <a:picLocks noChangeAspect="1"/>
          </p:cNvPicPr>
          <p:nvPr/>
        </p:nvPicPr>
        <p:blipFill>
          <a:blip r:embed="rId2"/>
          <a:stretch>
            <a:fillRect/>
          </a:stretch>
        </p:blipFill>
        <p:spPr>
          <a:xfrm>
            <a:off x="3770312" y="914400"/>
            <a:ext cx="4648200" cy="5486400"/>
          </a:xfrm>
          <a:prstGeom prst="rect">
            <a:avLst/>
          </a:prstGeom>
        </p:spPr>
      </p:pic>
    </p:spTree>
    <p:extLst>
      <p:ext uri="{BB962C8B-B14F-4D97-AF65-F5344CB8AC3E}">
        <p14:creationId xmlns:p14="http://schemas.microsoft.com/office/powerpoint/2010/main" val="197798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532D60-5939-1903-DD56-A4A9F03972BE}"/>
              </a:ext>
            </a:extLst>
          </p:cNvPr>
          <p:cNvPicPr>
            <a:picLocks noChangeAspect="1"/>
          </p:cNvPicPr>
          <p:nvPr/>
        </p:nvPicPr>
        <p:blipFill>
          <a:blip r:embed="rId2"/>
          <a:stretch>
            <a:fillRect/>
          </a:stretch>
        </p:blipFill>
        <p:spPr>
          <a:xfrm>
            <a:off x="1" y="76200"/>
            <a:ext cx="12188824" cy="6781801"/>
          </a:xfrm>
          <a:prstGeom prst="rect">
            <a:avLst/>
          </a:prstGeom>
        </p:spPr>
      </p:pic>
      <p:sp>
        <p:nvSpPr>
          <p:cNvPr id="3" name="Subtitle 2">
            <a:extLst>
              <a:ext uri="{FF2B5EF4-FFF2-40B4-BE49-F238E27FC236}">
                <a16:creationId xmlns:a16="http://schemas.microsoft.com/office/drawing/2014/main" id="{8577C6B1-7011-8D0D-498A-BAE53A64361B}"/>
              </a:ext>
            </a:extLst>
          </p:cNvPr>
          <p:cNvSpPr>
            <a:spLocks noGrp="1"/>
          </p:cNvSpPr>
          <p:nvPr>
            <p:ph type="subTitle" idx="1"/>
          </p:nvPr>
        </p:nvSpPr>
        <p:spPr>
          <a:xfrm>
            <a:off x="2170112" y="381000"/>
            <a:ext cx="7848600" cy="457200"/>
          </a:xfrm>
        </p:spPr>
        <p:txBody>
          <a:bodyPr>
            <a:normAutofit/>
          </a:bodyPr>
          <a:lstStyle/>
          <a:p>
            <a:pPr algn="ctr"/>
            <a:r>
              <a:rPr lang="en-US" sz="2400" b="1" u="sng" dirty="0">
                <a:latin typeface="Times New Roman" panose="02020603050405020304" pitchFamily="18" charset="0"/>
                <a:cs typeface="Times New Roman" panose="02020603050405020304" pitchFamily="18" charset="0"/>
              </a:rPr>
              <a:t>DFD LEVEL-0</a:t>
            </a:r>
          </a:p>
        </p:txBody>
      </p:sp>
    </p:spTree>
    <p:extLst>
      <p:ext uri="{BB962C8B-B14F-4D97-AF65-F5344CB8AC3E}">
        <p14:creationId xmlns:p14="http://schemas.microsoft.com/office/powerpoint/2010/main" val="2532728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FC3CEC-E667-2F58-58A4-CCC4BF1F8B70}"/>
              </a:ext>
            </a:extLst>
          </p:cNvPr>
          <p:cNvPicPr>
            <a:picLocks noChangeAspect="1"/>
          </p:cNvPicPr>
          <p:nvPr/>
        </p:nvPicPr>
        <p:blipFill>
          <a:blip r:embed="rId2"/>
          <a:stretch>
            <a:fillRect/>
          </a:stretch>
        </p:blipFill>
        <p:spPr>
          <a:xfrm>
            <a:off x="1" y="76200"/>
            <a:ext cx="12188824" cy="6629400"/>
          </a:xfrm>
          <a:prstGeom prst="rect">
            <a:avLst/>
          </a:prstGeom>
        </p:spPr>
      </p:pic>
      <p:sp>
        <p:nvSpPr>
          <p:cNvPr id="3" name="Subtitle 2">
            <a:extLst>
              <a:ext uri="{FF2B5EF4-FFF2-40B4-BE49-F238E27FC236}">
                <a16:creationId xmlns:a16="http://schemas.microsoft.com/office/drawing/2014/main" id="{1337E539-402E-77BD-0244-7675E344D4FF}"/>
              </a:ext>
            </a:extLst>
          </p:cNvPr>
          <p:cNvSpPr>
            <a:spLocks noGrp="1"/>
          </p:cNvSpPr>
          <p:nvPr>
            <p:ph type="subTitle" idx="1"/>
          </p:nvPr>
        </p:nvSpPr>
        <p:spPr>
          <a:xfrm>
            <a:off x="2170112" y="228600"/>
            <a:ext cx="7848600" cy="457200"/>
          </a:xfrm>
        </p:spPr>
        <p:txBody>
          <a:bodyPr/>
          <a:lstStyle/>
          <a:p>
            <a:pPr algn="ctr"/>
            <a:r>
              <a:rPr lang="en-US" sz="2000" b="1" u="sng" dirty="0">
                <a:latin typeface="Times New Roman" panose="02020603050405020304" pitchFamily="18" charset="0"/>
                <a:cs typeface="Times New Roman" panose="02020603050405020304" pitchFamily="18" charset="0"/>
              </a:rPr>
              <a:t>DFD LEVEL-1</a:t>
            </a:r>
          </a:p>
          <a:p>
            <a:pPr algn="ctr"/>
            <a:endParaRPr lang="en-US" dirty="0"/>
          </a:p>
        </p:txBody>
      </p:sp>
    </p:spTree>
    <p:extLst>
      <p:ext uri="{BB962C8B-B14F-4D97-AF65-F5344CB8AC3E}">
        <p14:creationId xmlns:p14="http://schemas.microsoft.com/office/powerpoint/2010/main" val="388788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DC171F-0BE0-2A85-4B8A-54384A4488BC}"/>
              </a:ext>
            </a:extLst>
          </p:cNvPr>
          <p:cNvPicPr>
            <a:picLocks noChangeAspect="1"/>
          </p:cNvPicPr>
          <p:nvPr/>
        </p:nvPicPr>
        <p:blipFill>
          <a:blip r:embed="rId2"/>
          <a:stretch>
            <a:fillRect/>
          </a:stretch>
        </p:blipFill>
        <p:spPr>
          <a:xfrm>
            <a:off x="1" y="152400"/>
            <a:ext cx="12188824" cy="6705601"/>
          </a:xfrm>
          <a:prstGeom prst="rect">
            <a:avLst/>
          </a:prstGeom>
        </p:spPr>
      </p:pic>
      <p:sp>
        <p:nvSpPr>
          <p:cNvPr id="3" name="Subtitle 2">
            <a:extLst>
              <a:ext uri="{FF2B5EF4-FFF2-40B4-BE49-F238E27FC236}">
                <a16:creationId xmlns:a16="http://schemas.microsoft.com/office/drawing/2014/main" id="{ACF76808-1DDC-B2D2-6026-69E15BECAD15}"/>
              </a:ext>
            </a:extLst>
          </p:cNvPr>
          <p:cNvSpPr>
            <a:spLocks noGrp="1"/>
          </p:cNvSpPr>
          <p:nvPr>
            <p:ph type="subTitle" idx="1"/>
          </p:nvPr>
        </p:nvSpPr>
        <p:spPr>
          <a:xfrm>
            <a:off x="2170112" y="17930"/>
            <a:ext cx="7848600" cy="533400"/>
          </a:xfrm>
        </p:spPr>
        <p:txBody>
          <a:bodyPr>
            <a:normAutofit/>
          </a:bodyPr>
          <a:lstStyle/>
          <a:p>
            <a:pPr algn="ctr"/>
            <a:r>
              <a:rPr lang="en-US" sz="2400" b="1" u="sng" dirty="0">
                <a:latin typeface="Times New Roman" panose="02020603050405020304" pitchFamily="18" charset="0"/>
                <a:cs typeface="Times New Roman" panose="02020603050405020304" pitchFamily="18" charset="0"/>
              </a:rPr>
              <a:t>DFD LEVEL-2</a:t>
            </a:r>
          </a:p>
        </p:txBody>
      </p:sp>
    </p:spTree>
    <p:extLst>
      <p:ext uri="{BB962C8B-B14F-4D97-AF65-F5344CB8AC3E}">
        <p14:creationId xmlns:p14="http://schemas.microsoft.com/office/powerpoint/2010/main" val="204376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639762"/>
          </a:xfrm>
        </p:spPr>
        <p:txBody>
          <a:bodyPr>
            <a:normAutofit/>
          </a:bodyPr>
          <a:lstStyle/>
          <a:p>
            <a:pPr algn="ctr"/>
            <a:r>
              <a:rPr lang="en-US" sz="2800" b="1" u="sng" dirty="0" err="1">
                <a:solidFill>
                  <a:schemeClr val="tx1"/>
                </a:solidFill>
              </a:rPr>
              <a:t>COnclusion</a:t>
            </a:r>
            <a:endParaRPr lang="en-US" sz="2800" b="1" u="sng" dirty="0">
              <a:solidFill>
                <a:schemeClr val="tx1"/>
              </a:solidFill>
            </a:endParaRPr>
          </a:p>
        </p:txBody>
      </p:sp>
      <p:sp>
        <p:nvSpPr>
          <p:cNvPr id="3" name="Content Placeholder 2"/>
          <p:cNvSpPr>
            <a:spLocks noGrp="1"/>
          </p:cNvSpPr>
          <p:nvPr>
            <p:ph sz="half" idx="1"/>
          </p:nvPr>
        </p:nvSpPr>
        <p:spPr>
          <a:xfrm>
            <a:off x="303212" y="1295400"/>
            <a:ext cx="5959476" cy="4876800"/>
          </a:xfrm>
        </p:spPr>
        <p:txBody>
          <a:bodyPr>
            <a:normAutofit/>
          </a:bodyPr>
          <a:lstStyle/>
          <a:p>
            <a:pPr marL="45720" indent="0" algn="just">
              <a:buNone/>
            </a:pPr>
            <a:r>
              <a:rPr lang="en-US" sz="1600" dirty="0">
                <a:latin typeface="Times New Roman" panose="02020603050405020304" pitchFamily="18" charset="0"/>
                <a:cs typeface="Times New Roman" panose="02020603050405020304" pitchFamily="18" charset="0"/>
              </a:rPr>
              <a:t>This online Voting system will manage the Voter’s information by which voter can login and use his voting rights. The system will incorporate all features of voting system. It provides the tools for maintaining voter’s vote to every party and it count total no. of every party. There is a DATABASE which is maintained by the ELECTION COMMISION OF INDIA in which all the names of voter with complete information is stored.</a:t>
            </a:r>
          </a:p>
          <a:p>
            <a:pPr marL="45720" indent="0" algn="just">
              <a:buNone/>
            </a:pPr>
            <a:r>
              <a:rPr lang="en-US" sz="1600" dirty="0">
                <a:latin typeface="Times New Roman" panose="02020603050405020304" pitchFamily="18" charset="0"/>
                <a:cs typeface="Times New Roman" panose="02020603050405020304" pitchFamily="18" charset="0"/>
              </a:rPr>
              <a:t>The traditional method of manual voting system has few drawbacks. This method is obviously not efficient as it wastes the voter’s energy and quite slow in term of completion. This smart system involves the voter’s can cast their vote easily, and can be implemented to the entire India. </a:t>
            </a:r>
          </a:p>
          <a:p>
            <a:pPr marL="45720" indent="0" algn="just">
              <a:buNone/>
            </a:pPr>
            <a:r>
              <a:rPr lang="en-US" sz="1600" dirty="0">
                <a:latin typeface="Times New Roman" panose="02020603050405020304" pitchFamily="18" charset="0"/>
                <a:cs typeface="Times New Roman" panose="02020603050405020304" pitchFamily="18" charset="0"/>
              </a:rPr>
              <a:t>Data can be managed on cloud so that it will be secured and managed efficiently. We have developed the online system for only one particular booth , this should be extended to all the polling booths in India .</a:t>
            </a:r>
          </a:p>
        </p:txBody>
      </p:sp>
      <p:pic>
        <p:nvPicPr>
          <p:cNvPr id="5" name="Content Placeholder 4">
            <a:extLst>
              <a:ext uri="{FF2B5EF4-FFF2-40B4-BE49-F238E27FC236}">
                <a16:creationId xmlns:a16="http://schemas.microsoft.com/office/drawing/2014/main" id="{3ECA4729-16BE-7DF4-3E3E-213A23300440}"/>
              </a:ext>
            </a:extLst>
          </p:cNvPr>
          <p:cNvPicPr>
            <a:picLocks noGrp="1" noChangeAspect="1"/>
          </p:cNvPicPr>
          <p:nvPr>
            <p:ph sz="half" idx="2"/>
          </p:nvPr>
        </p:nvPicPr>
        <p:blipFill>
          <a:blip r:embed="rId3">
            <a:extLst>
              <a:ext uri="{837473B0-CC2E-450A-ABE3-18F120FF3D39}">
                <a1611:picAttrSrcUrl xmlns:a1611="http://schemas.microsoft.com/office/drawing/2016/11/main" r:id="rId4"/>
              </a:ext>
            </a:extLst>
          </a:blip>
          <a:stretch>
            <a:fillRect/>
          </a:stretch>
        </p:blipFill>
        <p:spPr>
          <a:xfrm>
            <a:off x="6262688" y="1828800"/>
            <a:ext cx="5241924" cy="3348831"/>
          </a:xfrm>
        </p:spPr>
      </p:pic>
      <p:sp>
        <p:nvSpPr>
          <p:cNvPr id="6" name="TextBox 5">
            <a:extLst>
              <a:ext uri="{FF2B5EF4-FFF2-40B4-BE49-F238E27FC236}">
                <a16:creationId xmlns:a16="http://schemas.microsoft.com/office/drawing/2014/main" id="{736107CC-A5B0-FBD1-C2FB-5B6781C3696B}"/>
              </a:ext>
            </a:extLst>
          </p:cNvPr>
          <p:cNvSpPr txBox="1"/>
          <p:nvPr/>
        </p:nvSpPr>
        <p:spPr>
          <a:xfrm>
            <a:off x="6262688" y="5177631"/>
            <a:ext cx="4708525" cy="230832"/>
          </a:xfrm>
          <a:prstGeom prst="rect">
            <a:avLst/>
          </a:prstGeom>
          <a:noFill/>
          <a:ln>
            <a:solidFill>
              <a:schemeClr val="bg2"/>
            </a:solidFill>
          </a:ln>
        </p:spPr>
        <p:txBody>
          <a:bodyPr wrap="square" rtlCol="0">
            <a:spAutoFit/>
          </a:bodyPr>
          <a:lstStyle/>
          <a:p>
            <a:endParaRPr lang="en-US" sz="900" dirty="0"/>
          </a:p>
        </p:txBody>
      </p:sp>
    </p:spTree>
    <p:extLst>
      <p:ext uri="{BB962C8B-B14F-4D97-AF65-F5344CB8AC3E}">
        <p14:creationId xmlns:p14="http://schemas.microsoft.com/office/powerpoint/2010/main" val="3298995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5CAE-3C3B-A5D4-05B1-CC187A75A4C9}"/>
              </a:ext>
            </a:extLst>
          </p:cNvPr>
          <p:cNvSpPr>
            <a:spLocks noGrp="1"/>
          </p:cNvSpPr>
          <p:nvPr>
            <p:ph type="ctrTitle"/>
          </p:nvPr>
        </p:nvSpPr>
        <p:spPr>
          <a:xfrm>
            <a:off x="1217614" y="304800"/>
            <a:ext cx="9753600" cy="457201"/>
          </a:xfrm>
        </p:spPr>
        <p:txBody>
          <a:bodyPr>
            <a:normAutofit fontScale="90000"/>
          </a:bodyPr>
          <a:lstStyle/>
          <a:p>
            <a:pPr algn="ctr"/>
            <a:r>
              <a:rPr lang="en-US" sz="2800" b="1" u="sng" dirty="0">
                <a:solidFill>
                  <a:schemeClr val="tx1"/>
                </a:solidFill>
              </a:rPr>
              <a:t>Future scope</a:t>
            </a:r>
          </a:p>
        </p:txBody>
      </p:sp>
      <p:sp>
        <p:nvSpPr>
          <p:cNvPr id="3" name="Subtitle 2">
            <a:extLst>
              <a:ext uri="{FF2B5EF4-FFF2-40B4-BE49-F238E27FC236}">
                <a16:creationId xmlns:a16="http://schemas.microsoft.com/office/drawing/2014/main" id="{C91A0DD0-6F14-664E-0AF9-0BE03C1CBED5}"/>
              </a:ext>
            </a:extLst>
          </p:cNvPr>
          <p:cNvSpPr>
            <a:spLocks noGrp="1"/>
          </p:cNvSpPr>
          <p:nvPr>
            <p:ph type="subTitle" idx="1"/>
          </p:nvPr>
        </p:nvSpPr>
        <p:spPr>
          <a:xfrm>
            <a:off x="608012" y="1066800"/>
            <a:ext cx="11049000" cy="4953000"/>
          </a:xfrm>
        </p:spPr>
        <p:txBody>
          <a:bodyPr>
            <a:normAutofit fontScale="92500" lnSpcReduction="10000"/>
          </a:bodyPr>
          <a:lstStyle/>
          <a:p>
            <a:pPr algn="just"/>
            <a:r>
              <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In the current scenario, most of the countries of the world hold their elections using Electronic Voting Machines, where your vote gets registered electronically with the help of an Electronic Machine without using and wasting ballot paper to vote for elections. </a:t>
            </a:r>
          </a:p>
          <a:p>
            <a:pPr algn="just"/>
            <a:endPar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As security is a major concern nowadays, ensuring that no person exercises the right to vote twice is the main aspect. We can resolve this issue by introducing </a:t>
            </a:r>
            <a:r>
              <a:rPr lang="en-US" sz="1800" b="1"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Finger Print Based Voting</a:t>
            </a:r>
            <a:r>
              <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where a person can be authorized based on his Finger Print. This will put an end to fake voting. The domain of the project is the </a:t>
            </a:r>
            <a:r>
              <a:rPr lang="en-US" sz="1800" b="1"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Internet of Things </a:t>
            </a:r>
            <a:r>
              <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where we are building </a:t>
            </a:r>
            <a:r>
              <a:rPr lang="en-US" sz="1800" b="1"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Fingerprint Based Biometric Voting Machine.</a:t>
            </a:r>
          </a:p>
          <a:p>
            <a:pPr algn="just"/>
            <a:endPar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We know that IoT is the system of interrelated computing devices, mechanical and digital machines, objects, and the ability to transfer data over a network without requiring human-to-human or human-to-computer interaction. Thus our Fingerprint online module is an application where the user is recognized by his finger pattern. As we know that the minutiae features on a finger of each human being are different, the voter can be easily authenticated. The online system allows the voter to vote through his fingerprint.</a:t>
            </a:r>
          </a:p>
          <a:p>
            <a:pPr algn="just"/>
            <a:endParaRPr lang="en-US" sz="1800" kern="100" dirty="0">
              <a:solidFill>
                <a:srgbClr val="333333"/>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800" kern="1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 The fingerprint of the voter is used to uniquely and distinctively identify him/her using the fingerprint module. Also, the system promises the right to vote a candidate only once, thus not allowing the voter to vote for the second time. An admin is assigned to add all the candidates standing for the election. Only the admin has the right to add a candidate name and photo who are nominated. The Admin will also register the voter's name by verifying voter's details. Admin will authenticate the voter by verifying the voter's identity and then admin will register the voter. Once the user has got the voters id and password from the admin the user can log in and vote for the candidates who were nominated. The system will allow the user to vote for only one candidate. In the end, the election result is published by using the election id. Even users can view the election result.</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9581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1020762"/>
          </a:xfrm>
        </p:spPr>
        <p:txBody>
          <a:bodyPr>
            <a:normAutofit/>
          </a:bodyPr>
          <a:lstStyle/>
          <a:p>
            <a:pPr algn="ctr"/>
            <a:r>
              <a:rPr lang="en-US" sz="2800" b="1" u="sng" dirty="0" err="1">
                <a:solidFill>
                  <a:schemeClr val="tx1"/>
                </a:solidFill>
              </a:rPr>
              <a:t>REferences</a:t>
            </a:r>
            <a:endParaRPr lang="en-US" sz="2800" b="1" u="sng" dirty="0">
              <a:solidFill>
                <a:schemeClr val="tx1"/>
              </a:solidFill>
            </a:endParaRPr>
          </a:p>
        </p:txBody>
      </p:sp>
      <p:sp>
        <p:nvSpPr>
          <p:cNvPr id="3" name="Content Placeholder 2"/>
          <p:cNvSpPr>
            <a:spLocks noGrp="1"/>
          </p:cNvSpPr>
          <p:nvPr>
            <p:ph sz="half" idx="1"/>
          </p:nvPr>
        </p:nvSpPr>
        <p:spPr>
          <a:xfrm>
            <a:off x="1192615" y="1828800"/>
            <a:ext cx="10347533" cy="4343400"/>
          </a:xfrm>
        </p:spPr>
        <p:txBody>
          <a:bodyPr>
            <a:normAutofit/>
          </a:bodyPr>
          <a:lstStyle/>
          <a:p>
            <a:pPr marL="45720" indent="0">
              <a:buNone/>
            </a:pPr>
            <a:r>
              <a:rPr lang="en-US" sz="2000" dirty="0">
                <a:latin typeface="Times New Roman" panose="02020603050405020304" pitchFamily="18" charset="0"/>
                <a:cs typeface="Times New Roman" panose="02020603050405020304" pitchFamily="18" charset="0"/>
              </a:rPr>
              <a:t>[1] https://www.electionsonline.com/online-votingsystem/ </a:t>
            </a:r>
          </a:p>
          <a:p>
            <a:pPr marL="45720" indent="0">
              <a:buNone/>
            </a:pPr>
            <a:r>
              <a:rPr lang="en-US" sz="2000" dirty="0">
                <a:latin typeface="Times New Roman" panose="02020603050405020304" pitchFamily="18" charset="0"/>
                <a:cs typeface="Times New Roman" panose="02020603050405020304" pitchFamily="18" charset="0"/>
              </a:rPr>
              <a:t>[2] https://en.wikipedia.org/wiki/Electronic_voting </a:t>
            </a:r>
          </a:p>
          <a:p>
            <a:pPr marL="45720" indent="0">
              <a:buNone/>
            </a:pPr>
            <a:r>
              <a:rPr lang="en-US" sz="2000" dirty="0">
                <a:latin typeface="Times New Roman" panose="02020603050405020304" pitchFamily="18" charset="0"/>
                <a:cs typeface="Times New Roman" panose="02020603050405020304" pitchFamily="18" charset="0"/>
              </a:rPr>
              <a:t>[3]. K. P. </a:t>
            </a:r>
            <a:r>
              <a:rPr lang="en-US" sz="2000" dirty="0" err="1">
                <a:latin typeface="Times New Roman" panose="02020603050405020304" pitchFamily="18" charset="0"/>
                <a:cs typeface="Times New Roman" panose="02020603050405020304" pitchFamily="18" charset="0"/>
              </a:rPr>
              <a:t>Kaliyamurthie</a:t>
            </a:r>
            <a:r>
              <a:rPr lang="en-US" sz="2000" dirty="0">
                <a:latin typeface="Times New Roman" panose="02020603050405020304" pitchFamily="18" charset="0"/>
                <a:cs typeface="Times New Roman" panose="02020603050405020304" pitchFamily="18" charset="0"/>
              </a:rPr>
              <a:t>, R. </a:t>
            </a:r>
            <a:r>
              <a:rPr lang="en-US" sz="2000" dirty="0" err="1">
                <a:latin typeface="Times New Roman" panose="02020603050405020304" pitchFamily="18" charset="0"/>
                <a:cs typeface="Times New Roman" panose="02020603050405020304" pitchFamily="18" charset="0"/>
              </a:rPr>
              <a:t>Udayakumar</a:t>
            </a:r>
            <a:r>
              <a:rPr lang="en-US" sz="2000" dirty="0">
                <a:latin typeface="Times New Roman" panose="02020603050405020304" pitchFamily="18" charset="0"/>
                <a:cs typeface="Times New Roman" panose="02020603050405020304" pitchFamily="18" charset="0"/>
              </a:rPr>
              <a:t>, D. </a:t>
            </a:r>
            <a:r>
              <a:rPr lang="en-US" sz="2000" dirty="0" err="1">
                <a:latin typeface="Times New Roman" panose="02020603050405020304" pitchFamily="18" charset="0"/>
                <a:cs typeface="Times New Roman" panose="02020603050405020304" pitchFamily="18" charset="0"/>
              </a:rPr>
              <a:t>Parameswari</a:t>
            </a:r>
            <a:r>
              <a:rPr lang="en-US" sz="2000" dirty="0">
                <a:latin typeface="Times New Roman" panose="02020603050405020304" pitchFamily="18" charset="0"/>
                <a:cs typeface="Times New Roman" panose="02020603050405020304" pitchFamily="18" charset="0"/>
              </a:rPr>
              <a:t> and S. N. </a:t>
            </a:r>
            <a:r>
              <a:rPr lang="en-US" sz="2000" dirty="0" err="1">
                <a:latin typeface="Times New Roman" panose="02020603050405020304" pitchFamily="18" charset="0"/>
                <a:cs typeface="Times New Roman" panose="02020603050405020304" pitchFamily="18" charset="0"/>
              </a:rPr>
              <a:t>Mugunthan</a:t>
            </a:r>
            <a:r>
              <a:rPr lang="en-US" sz="2000" dirty="0">
                <a:latin typeface="Times New Roman" panose="02020603050405020304" pitchFamily="18" charset="0"/>
                <a:cs typeface="Times New Roman" panose="02020603050405020304" pitchFamily="18" charset="0"/>
              </a:rPr>
              <a:t>, “Highly Secured Online Voting System over Network,” in Indian Journal of Science and Technology | Print ISSN: 0974-6846 | Online ISSN: 0974-5645 </a:t>
            </a:r>
          </a:p>
          <a:p>
            <a:pPr marL="45720" indent="0">
              <a:buNone/>
            </a:pPr>
            <a:r>
              <a:rPr lang="en-US" sz="2000" dirty="0">
                <a:latin typeface="Times New Roman" panose="02020603050405020304" pitchFamily="18" charset="0"/>
                <a:cs typeface="Times New Roman" panose="02020603050405020304" pitchFamily="18" charset="0"/>
              </a:rPr>
              <a:t>[4]. Ankit Anand, Pallavi Divya, An Efficient Online Voting System, Vol.2, Issue.4, July-Aug. 2019, pp2631-2634.</a:t>
            </a:r>
          </a:p>
          <a:p>
            <a:pPr marL="45720" indent="0">
              <a:buNone/>
            </a:pPr>
            <a:r>
              <a:rPr lang="en-US" sz="2000" dirty="0">
                <a:latin typeface="Times New Roman" panose="02020603050405020304" pitchFamily="18" charset="0"/>
                <a:cs typeface="Times New Roman" panose="02020603050405020304" pitchFamily="18" charset="0"/>
              </a:rPr>
              <a:t>[5]. Drew Springall, Travis </a:t>
            </a:r>
            <a:r>
              <a:rPr lang="en-US" sz="2000" dirty="0" err="1">
                <a:latin typeface="Times New Roman" panose="02020603050405020304" pitchFamily="18" charset="0"/>
                <a:cs typeface="Times New Roman" panose="02020603050405020304" pitchFamily="18" charset="0"/>
              </a:rPr>
              <a:t>Finkenauer</a:t>
            </a:r>
            <a:r>
              <a:rPr lang="en-US" sz="2000" dirty="0">
                <a:latin typeface="Times New Roman" panose="02020603050405020304" pitchFamily="18" charset="0"/>
                <a:cs typeface="Times New Roman" panose="02020603050405020304" pitchFamily="18" charset="0"/>
              </a:rPr>
              <a:t>, Zakir </a:t>
            </a:r>
            <a:r>
              <a:rPr lang="en-US" sz="2000" dirty="0" err="1">
                <a:latin typeface="Times New Roman" panose="02020603050405020304" pitchFamily="18" charset="0"/>
                <a:cs typeface="Times New Roman" panose="02020603050405020304" pitchFamily="18" charset="0"/>
              </a:rPr>
              <a:t>Durumeric</a:t>
            </a:r>
            <a:r>
              <a:rPr lang="en-US" sz="2000" dirty="0">
                <a:latin typeface="Times New Roman" panose="02020603050405020304" pitchFamily="18" charset="0"/>
                <a:cs typeface="Times New Roman" panose="02020603050405020304" pitchFamily="18" charset="0"/>
              </a:rPr>
              <a:t>, Jason </a:t>
            </a:r>
            <a:r>
              <a:rPr lang="en-US" sz="2000" dirty="0" err="1">
                <a:latin typeface="Times New Roman" panose="02020603050405020304" pitchFamily="18" charset="0"/>
                <a:cs typeface="Times New Roman" panose="02020603050405020304" pitchFamily="18" charset="0"/>
              </a:rPr>
              <a:t>Kitcat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Harri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Hursti</a:t>
            </a:r>
            <a:r>
              <a:rPr lang="en-US" sz="2000" dirty="0">
                <a:latin typeface="Times New Roman" panose="02020603050405020304" pitchFamily="18" charset="0"/>
                <a:cs typeface="Times New Roman" panose="02020603050405020304" pitchFamily="18" charset="0"/>
              </a:rPr>
              <a:t> Margaret </a:t>
            </a:r>
            <a:r>
              <a:rPr lang="en-US" sz="2000" dirty="0" err="1">
                <a:latin typeface="Times New Roman" panose="02020603050405020304" pitchFamily="18" charset="0"/>
                <a:cs typeface="Times New Roman" panose="02020603050405020304" pitchFamily="18" charset="0"/>
              </a:rPr>
              <a:t>MacAlpine</a:t>
            </a:r>
            <a:r>
              <a:rPr lang="en-US" sz="2000" dirty="0">
                <a:latin typeface="Times New Roman" panose="02020603050405020304" pitchFamily="18" charset="0"/>
                <a:cs typeface="Times New Roman" panose="02020603050405020304" pitchFamily="18" charset="0"/>
              </a:rPr>
              <a:t> J. Alex </a:t>
            </a:r>
            <a:r>
              <a:rPr lang="en-US" sz="2000" dirty="0" err="1">
                <a:latin typeface="Times New Roman" panose="02020603050405020304" pitchFamily="18" charset="0"/>
                <a:cs typeface="Times New Roman" panose="02020603050405020304" pitchFamily="18" charset="0"/>
              </a:rPr>
              <a:t>Halderman</a:t>
            </a:r>
            <a:r>
              <a:rPr lang="en-US" sz="2000" dirty="0">
                <a:latin typeface="Times New Roman" panose="02020603050405020304" pitchFamily="18" charset="0"/>
                <a:cs typeface="Times New Roman" panose="02020603050405020304" pitchFamily="18" charset="0"/>
              </a:rPr>
              <a:t>, November 3–7, 2021, “Security Analysis of the Estonian Internet Voting System,” in CCS‟14, Scottsdale, Arizona, USA. ACM 978-1-4503-2957-6/14/11.</a:t>
            </a:r>
          </a:p>
        </p:txBody>
      </p:sp>
    </p:spTree>
    <p:extLst>
      <p:ext uri="{BB962C8B-B14F-4D97-AF65-F5344CB8AC3E}">
        <p14:creationId xmlns:p14="http://schemas.microsoft.com/office/powerpoint/2010/main" val="37323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33BFB4-A5AB-0108-ED2F-E7D288FF979F}"/>
              </a:ext>
            </a:extLst>
          </p:cNvPr>
          <p:cNvSpPr txBox="1"/>
          <p:nvPr/>
        </p:nvSpPr>
        <p:spPr>
          <a:xfrm>
            <a:off x="3275012" y="2133600"/>
            <a:ext cx="4953000" cy="2438400"/>
          </a:xfrm>
          <a:prstGeom prst="rect">
            <a:avLst/>
          </a:prstGeom>
          <a:noFill/>
          <a:ln>
            <a:solidFill>
              <a:schemeClr val="bg2"/>
            </a:solidFill>
          </a:ln>
        </p:spPr>
        <p:txBody>
          <a:bodyPr wrap="square" rtlCol="0">
            <a:spAutoFit/>
          </a:bodyPr>
          <a:lstStyle/>
          <a:p>
            <a:pPr>
              <a:lnSpc>
                <a:spcPct val="90000"/>
              </a:lnSpc>
            </a:pPr>
            <a:endParaRPr lang="en-US" sz="2400" dirty="0" err="1"/>
          </a:p>
        </p:txBody>
      </p:sp>
      <p:pic>
        <p:nvPicPr>
          <p:cNvPr id="4" name="Picture 3">
            <a:extLst>
              <a:ext uri="{FF2B5EF4-FFF2-40B4-BE49-F238E27FC236}">
                <a16:creationId xmlns:a16="http://schemas.microsoft.com/office/drawing/2014/main" id="{D3FE7D6A-3906-5C7E-0766-A5A1661A1FA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7788" y="1024254"/>
            <a:ext cx="12188825" cy="4919346"/>
          </a:xfrm>
          <a:prstGeom prst="rect">
            <a:avLst/>
          </a:prstGeom>
        </p:spPr>
      </p:pic>
    </p:spTree>
    <p:extLst>
      <p:ext uri="{BB962C8B-B14F-4D97-AF65-F5344CB8AC3E}">
        <p14:creationId xmlns:p14="http://schemas.microsoft.com/office/powerpoint/2010/main" val="25794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2019</TotalTime>
  <Words>2332</Words>
  <Application>Microsoft Office PowerPoint</Application>
  <PresentationFormat>Custom</PresentationFormat>
  <Paragraphs>110</Paragraphs>
  <Slides>18</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Century Gothic</vt:lpstr>
      <vt:lpstr>Times New Roman</vt:lpstr>
      <vt:lpstr>World country report presentation</vt:lpstr>
      <vt:lpstr>PowerPoint Presentation</vt:lpstr>
      <vt:lpstr>ABSTRACT</vt:lpstr>
      <vt:lpstr>introduction</vt:lpstr>
      <vt:lpstr>About project</vt:lpstr>
      <vt:lpstr>Literature Review</vt:lpstr>
      <vt:lpstr>Problem with  the existing system</vt:lpstr>
      <vt:lpstr>E-Bharat : AN essential voting System</vt:lpstr>
      <vt:lpstr>System requirement</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Prabhat Singh</dc:creator>
  <cp:lastModifiedBy>Prabhat Singh</cp:lastModifiedBy>
  <cp:revision>55</cp:revision>
  <dcterms:created xsi:type="dcterms:W3CDTF">2023-09-15T13:26:29Z</dcterms:created>
  <dcterms:modified xsi:type="dcterms:W3CDTF">2024-01-17T07:03:11Z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